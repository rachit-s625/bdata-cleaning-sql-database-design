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2C59"/>
                </a:solidFill>
                <a:latin typeface="Arial"/>
              </a:defRPr>
            </a:pPr>
            <a:r>
              <a:t>BLUESTOCK FINTECH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400" b="1">
                <a:solidFill>
                  <a:srgbClr val="E28F22"/>
                </a:solidFill>
              </a:defRPr>
            </a:pPr>
            <a:r>
              <a:t>Mutual Fund Analytics Platform</a:t>
            </a:r>
            <a:br/>
            <a:r>
              <a:t>Capstone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Build an end-to-end analytics platform to solve data fragmentation:</a:t>
            </a:r>
          </a:p>
          <a:p>
            <a:r>
              <a:t>• Automated ETL pipeline from raw AMFI sources &amp; mfapi.in API</a:t>
            </a:r>
          </a:p>
          <a:p>
            <a:r>
              <a:t>• Normalised SQLite database star-schema design</a:t>
            </a:r>
          </a:p>
          <a:p>
            <a:r>
              <a:t>• Compute risk-adjusted financial metrics (Sharpe, Sortino, Alpha, Beta)</a:t>
            </a:r>
          </a:p>
          <a:p>
            <a:r>
              <a:t>• Create an interactive BI dashboard and scoring system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Sources &amp; Inventory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Ingested 10 distinct datasets covering:</a:t>
            </a:r>
          </a:p>
          <a:p>
            <a:r>
              <a:t>• Fund Master (40 schemes) &amp; NAV Historical series (71k+ rows)</a:t>
            </a:r>
          </a:p>
          <a:p>
            <a:r>
              <a:t>• Investor transactions (13k+ rows) with state &amp; demographics</a:t>
            </a:r>
          </a:p>
          <a:p>
            <a:r>
              <a:t>• AUM by fund house &amp; monthly SIP industry inflows</a:t>
            </a:r>
          </a:p>
          <a:p>
            <a:r>
              <a:t>• Benchmark indices history (Nifty 50, Nifty 100)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Five-layer data engineering pipeline:</a:t>
            </a:r>
          </a:p>
          <a:p>
            <a:r>
              <a:t>1. EXTRACT: Live NAV extraction via API &amp; CSV files</a:t>
            </a:r>
          </a:p>
          <a:p>
            <a:r>
              <a:t>2. TRANSFORM: Cleaning, forward-filling, deduplication via Pandas</a:t>
            </a:r>
          </a:p>
          <a:p>
            <a:r>
              <a:t>3. LOAD: Relational storage in SQLite DB with optimized indexing</a:t>
            </a:r>
          </a:p>
          <a:p>
            <a:r>
              <a:t>4. ANALYZE: Metrics computation (CAGR, drawdown, VaR, HHI)</a:t>
            </a:r>
          </a:p>
          <a:p>
            <a:r>
              <a:t>5. VISUALIZE: Interactive Streamlit UI and automated 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findings from data exploration:</a:t>
            </a:r>
          </a:p>
          <a:p>
            <a:r>
              <a:t>• NAV trends show strong post-COVID recovery and 2023-2024 bull run</a:t>
            </a:r>
          </a:p>
          <a:p>
            <a:r>
              <a:t>• Top fund houses (SBI, HDFC, ICICI) dominate AUM (&gt;50% market share)</a:t>
            </a:r>
          </a:p>
          <a:p>
            <a:r>
              <a:t>• Transaction split: 60% SIP, 25% Lumpsum, 15% Redemption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Demographic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Analysis of 5,000 investors across 12 states:</a:t>
            </a:r>
          </a:p>
          <a:p>
            <a:r>
              <a:t>• Punjab, Tamil Nadu, and Madhya Pradesh contribute highest transaction counts</a:t>
            </a:r>
          </a:p>
          <a:p>
            <a:r>
              <a:t>• Young investors (18-25) show high adoption but smaller SIP ticket sizes</a:t>
            </a:r>
          </a:p>
          <a:p>
            <a:r>
              <a:t>• Mandate and UPI dominate payment modes (&gt;80% share)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Computed standard financial indicators:</a:t>
            </a:r>
          </a:p>
          <a:p>
            <a:r>
              <a:t>• 1-Year, 3-Year, 5-Year CAGR to analyze return persistency</a:t>
            </a:r>
          </a:p>
          <a:p>
            <a:r>
              <a:t>• Sharpe Ratio (risk-adjusted return) &amp; Sortino Ratio (downside focus)</a:t>
            </a:r>
          </a:p>
          <a:p>
            <a:r>
              <a:t>• Tracking Error &amp; Information Ratio to check alpha efficiency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Advanced Risk Analytics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Implemented downstream risk models:</a:t>
            </a:r>
          </a:p>
          <a:p>
            <a:r>
              <a:t>• 95% Historical Value at Risk (VaR) &amp; Conditional VaR (CVaR)</a:t>
            </a:r>
          </a:p>
          <a:p>
            <a:r>
              <a:t>• Herfindahl-Hirschman Index (HHI) to measure sector concentration risk</a:t>
            </a:r>
          </a:p>
          <a:p>
            <a:r>
              <a:t>• Cohort Analysis and SIP Continuity model flagging at-risk accounts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Fund Scorecard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Composite scoring algorithm (0-100 score):</a:t>
            </a:r>
          </a:p>
          <a:p>
            <a:r>
              <a:t>• 30% weighting to 3-Year CAGR rank</a:t>
            </a:r>
          </a:p>
          <a:p>
            <a:r>
              <a:t>• 25% weighting to Sharpe ratio rank</a:t>
            </a:r>
          </a:p>
          <a:p>
            <a:r>
              <a:t>• 20% weighting to Alpha rank</a:t>
            </a:r>
          </a:p>
          <a:p>
            <a:r>
              <a:t>• 15% weighting to Expense Ratio (inverse rank)</a:t>
            </a:r>
          </a:p>
          <a:p>
            <a:r>
              <a:t>• 10% weighting to Maximum Drawdown (inverse rank)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Tailored suggestions based on Risk Appetite:</a:t>
            </a:r>
          </a:p>
          <a:p>
            <a:r>
              <a:t>• LOW RISK: Suggests Liquid/Short Duration funds (e.g. ICICI Pru Liquid)</a:t>
            </a:r>
          </a:p>
          <a:p>
            <a:r>
              <a:t>• MODERATE RISK: Suggests Large Cap &amp; Bluechip equity schemes</a:t>
            </a:r>
          </a:p>
          <a:p>
            <a:r>
              <a:t>• HIGH RISK: Suggests Mid Cap, Small Cap, and Value funds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Project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Final conclusions:</a:t>
            </a:r>
          </a:p>
          <a:p>
            <a:r>
              <a:t>• Normalized data eliminates ingestion errors across disparate AMFI formats</a:t>
            </a:r>
          </a:p>
          <a:p>
            <a:r>
              <a:t>• Small Cap schemes generated highest returns but carry significant drawdown risks</a:t>
            </a:r>
          </a:p>
          <a:p>
            <a:r>
              <a:t>• SIP continuity analysis reveals a 12% account lapse/at-risk rate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0F2C59"/>
                </a:solidFill>
                <a:latin typeface="Arial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 b="1">
                <a:solidFill>
                  <a:srgbClr val="E28F22"/>
                </a:solidFill>
              </a:defRPr>
            </a:pPr>
            <a:r>
              <a:t>Questions &amp; Discussion</a:t>
            </a:r>
            <a:br/>
            <a:r>
              <a:t>Mutual Fund Analytics Capstone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